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9" r:id="rId1"/>
  </p:sldMasterIdLst>
  <p:sldIdLst>
    <p:sldId id="258" r:id="rId2"/>
    <p:sldId id="259" r:id="rId3"/>
    <p:sldId id="260" r:id="rId4"/>
    <p:sldId id="261" r:id="rId5"/>
    <p:sldId id="262" r:id="rId6"/>
    <p:sldId id="263" r:id="rId7"/>
    <p:sldId id="265" r:id="rId8"/>
    <p:sldId id="299" r:id="rId9"/>
    <p:sldId id="301" r:id="rId10"/>
    <p:sldId id="303" r:id="rId11"/>
    <p:sldId id="295" r:id="rId12"/>
    <p:sldId id="297" r:id="rId13"/>
    <p:sldId id="32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5T10:41:11.821"/>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5T10:41:17.49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5T10:41:23.107"/>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5934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3703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5380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2917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5500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201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5707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7621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0454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4257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7330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73992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295799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1642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3836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01220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46582342"/>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7.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37074" y="447611"/>
            <a:ext cx="4517852" cy="1200329"/>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Capstone  Project2 </a:t>
            </a:r>
          </a:p>
          <a:p>
            <a:pPr algn="ctr"/>
            <a:endPar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1542745" y="1745401"/>
            <a:ext cx="8891452" cy="523220"/>
          </a:xfrm>
          <a:prstGeom prst="rect">
            <a:avLst/>
          </a:prstGeom>
          <a:noFill/>
        </p:spPr>
        <p:txBody>
          <a:bodyPr wrap="square" rtlCol="0">
            <a:spAutoFit/>
          </a:bodyPr>
          <a:lstStyle/>
          <a:p>
            <a:pPr algn="ctr"/>
            <a:r>
              <a:rPr lang="en-IN" sz="2800" dirty="0"/>
              <a:t>Project Domain : E-commerce </a:t>
            </a:r>
            <a:endParaRPr lang="en-IN"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3567952" y="3248549"/>
            <a:ext cx="4644533"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Name – Ashish Pachauri</a:t>
            </a:r>
            <a:endParaRPr lang="en-I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 name="Ink 5">
                <a:extLst>
                  <a:ext uri="{FF2B5EF4-FFF2-40B4-BE49-F238E27FC236}">
                    <a16:creationId xmlns:a16="http://schemas.microsoft.com/office/drawing/2014/main" id="{2E4A71F9-8800-C741-ADC0-30D6B1D14AAC}"/>
                  </a:ext>
                </a:extLst>
              </p14:cNvPr>
              <p14:cNvContentPartPr/>
              <p14:nvPr/>
            </p14:nvContentPartPr>
            <p14:xfrm>
              <a:off x="2384661" y="950139"/>
              <a:ext cx="360" cy="360"/>
            </p14:xfrm>
          </p:contentPart>
        </mc:Choice>
        <mc:Fallback xmlns="">
          <p:pic>
            <p:nvPicPr>
              <p:cNvPr id="6" name="Ink 5">
                <a:extLst>
                  <a:ext uri="{FF2B5EF4-FFF2-40B4-BE49-F238E27FC236}">
                    <a16:creationId xmlns:a16="http://schemas.microsoft.com/office/drawing/2014/main" id="{2E4A71F9-8800-C741-ADC0-30D6B1D14AAC}"/>
                  </a:ext>
                </a:extLst>
              </p:cNvPr>
              <p:cNvPicPr/>
              <p:nvPr/>
            </p:nvPicPr>
            <p:blipFill>
              <a:blip r:embed="rId3"/>
              <a:stretch>
                <a:fillRect/>
              </a:stretch>
            </p:blipFill>
            <p:spPr>
              <a:xfrm>
                <a:off x="2375661" y="896499"/>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0" name="Ink 9">
                <a:extLst>
                  <a:ext uri="{FF2B5EF4-FFF2-40B4-BE49-F238E27FC236}">
                    <a16:creationId xmlns:a16="http://schemas.microsoft.com/office/drawing/2014/main" id="{C8638CF8-436E-814D-53C2-D184F3EF740D}"/>
                  </a:ext>
                </a:extLst>
              </p14:cNvPr>
              <p14:cNvContentPartPr/>
              <p14:nvPr/>
            </p14:nvContentPartPr>
            <p14:xfrm>
              <a:off x="-233259" y="1362339"/>
              <a:ext cx="360" cy="360"/>
            </p14:xfrm>
          </p:contentPart>
        </mc:Choice>
        <mc:Fallback xmlns="">
          <p:pic>
            <p:nvPicPr>
              <p:cNvPr id="10" name="Ink 9">
                <a:extLst>
                  <a:ext uri="{FF2B5EF4-FFF2-40B4-BE49-F238E27FC236}">
                    <a16:creationId xmlns:a16="http://schemas.microsoft.com/office/drawing/2014/main" id="{C8638CF8-436E-814D-53C2-D184F3EF740D}"/>
                  </a:ext>
                </a:extLst>
              </p:cNvPr>
              <p:cNvPicPr/>
              <p:nvPr/>
            </p:nvPicPr>
            <p:blipFill>
              <a:blip r:embed="rId5"/>
              <a:stretch>
                <a:fillRect/>
              </a:stretch>
            </p:blipFill>
            <p:spPr>
              <a:xfrm>
                <a:off x="-242259" y="1308699"/>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1" name="Ink 10">
                <a:extLst>
                  <a:ext uri="{FF2B5EF4-FFF2-40B4-BE49-F238E27FC236}">
                    <a16:creationId xmlns:a16="http://schemas.microsoft.com/office/drawing/2014/main" id="{53C7ED75-AFF0-0CC4-9A30-BBF651FB31F7}"/>
                  </a:ext>
                </a:extLst>
              </p14:cNvPr>
              <p14:cNvContentPartPr/>
              <p14:nvPr/>
            </p14:nvContentPartPr>
            <p14:xfrm>
              <a:off x="-358539" y="690219"/>
              <a:ext cx="360" cy="360"/>
            </p14:xfrm>
          </p:contentPart>
        </mc:Choice>
        <mc:Fallback xmlns="">
          <p:pic>
            <p:nvPicPr>
              <p:cNvPr id="11" name="Ink 10">
                <a:extLst>
                  <a:ext uri="{FF2B5EF4-FFF2-40B4-BE49-F238E27FC236}">
                    <a16:creationId xmlns:a16="http://schemas.microsoft.com/office/drawing/2014/main" id="{53C7ED75-AFF0-0CC4-9A30-BBF651FB31F7}"/>
                  </a:ext>
                </a:extLst>
              </p:cNvPr>
              <p:cNvPicPr/>
              <p:nvPr/>
            </p:nvPicPr>
            <p:blipFill>
              <a:blip r:embed="rId7"/>
              <a:stretch>
                <a:fillRect/>
              </a:stretch>
            </p:blipFill>
            <p:spPr>
              <a:xfrm>
                <a:off x="-367539" y="636579"/>
                <a:ext cx="18000" cy="108000"/>
              </a:xfrm>
              <a:prstGeom prst="rect">
                <a:avLst/>
              </a:prstGeom>
            </p:spPr>
          </p:pic>
        </mc:Fallback>
      </mc:AlternateContent>
      <p:pic>
        <p:nvPicPr>
          <p:cNvPr id="8" name="image1.png">
            <a:extLst>
              <a:ext uri="{FF2B5EF4-FFF2-40B4-BE49-F238E27FC236}">
                <a16:creationId xmlns:a16="http://schemas.microsoft.com/office/drawing/2014/main" id="{DE4A33E9-33F7-4763-B0FC-4F4CDF4064F5}"/>
              </a:ext>
            </a:extLst>
          </p:cNvPr>
          <p:cNvPicPr/>
          <p:nvPr/>
        </p:nvPicPr>
        <p:blipFill>
          <a:blip r:embed="rId8"/>
          <a:srcRect/>
          <a:stretch>
            <a:fillRect/>
          </a:stretch>
        </p:blipFill>
        <p:spPr>
          <a:xfrm>
            <a:off x="3123033" y="3948206"/>
            <a:ext cx="5730875" cy="2565400"/>
          </a:xfrm>
          <a:prstGeom prst="rect">
            <a:avLst/>
          </a:prstGeom>
          <a:ln/>
        </p:spPr>
      </p:pic>
    </p:spTree>
    <p:extLst>
      <p:ext uri="{BB962C8B-B14F-4D97-AF65-F5344CB8AC3E}">
        <p14:creationId xmlns:p14="http://schemas.microsoft.com/office/powerpoint/2010/main" val="2379662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33729" y="243135"/>
            <a:ext cx="1974648" cy="707886"/>
          </a:xfrm>
          <a:prstGeom prst="rect">
            <a:avLst/>
          </a:prstGeom>
          <a:noFill/>
        </p:spPr>
        <p:txBody>
          <a:bodyPr wrap="square" rtlCol="0">
            <a:spAutoFit/>
          </a:bodyPr>
          <a:lstStyle/>
          <a:p>
            <a:r>
              <a:rPr lang="en-US" sz="40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endParaRPr lang="en-IN" sz="40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0" y="1183341"/>
            <a:ext cx="12192000" cy="1355564"/>
          </a:xfrm>
          <a:prstGeom prst="rect">
            <a:avLst/>
          </a:prstGeom>
          <a:noFill/>
        </p:spPr>
        <p:txBody>
          <a:bodyPr wrap="square" rtlCol="0">
            <a:spAutoFit/>
          </a:bodyPr>
          <a:lstStyle/>
          <a:p>
            <a:pPr algn="just">
              <a:lnSpc>
                <a:spcPct val="150000"/>
              </a:lnSpc>
            </a:pPr>
            <a:r>
              <a:rPr lang="en-US" sz="1900" dirty="0">
                <a:latin typeface="Times New Roman" panose="02020603050405020304" pitchFamily="18" charset="0"/>
                <a:cs typeface="Times New Roman" panose="02020603050405020304" pitchFamily="18" charset="0"/>
              </a:rPr>
              <a:t>This project conducts a comprehensive sentiment analysis on over 34,000 Amazon product reviews, classifying them into positive, negative, and neutral sentiments. The goal is to develop a robust sentiment analysis model that effectively handles class imbalance and leverages both traditional and advanced machine learning techniques.</a:t>
            </a:r>
            <a:endParaRPr lang="en-IN" sz="19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AD648A30-B25A-4DB8-AEE4-D5DA92E366FA}"/>
              </a:ext>
            </a:extLst>
          </p:cNvPr>
          <p:cNvSpPr/>
          <p:nvPr/>
        </p:nvSpPr>
        <p:spPr>
          <a:xfrm>
            <a:off x="0" y="2472412"/>
            <a:ext cx="12192000" cy="183127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Key components include:</a:t>
            </a:r>
          </a:p>
          <a:p>
            <a:pPr>
              <a:buFont typeface="+mj-lt"/>
              <a:buAutoNum type="arabicPeriod"/>
            </a:pPr>
            <a:r>
              <a:rPr lang="en-US" sz="1900" dirty="0">
                <a:latin typeface="Times New Roman" panose="02020603050405020304" pitchFamily="18" charset="0"/>
                <a:cs typeface="Times New Roman" panose="02020603050405020304" pitchFamily="18" charset="0"/>
              </a:rPr>
              <a:t>Data Exploration: Gaining insights into review trends, word usage patterns, and sentiment distribution.</a:t>
            </a:r>
          </a:p>
          <a:p>
            <a:pPr>
              <a:buFont typeface="+mj-lt"/>
              <a:buAutoNum type="arabicPeriod"/>
            </a:pPr>
            <a:r>
              <a:rPr lang="en-US" sz="1900" dirty="0">
                <a:latin typeface="Times New Roman" panose="02020603050405020304" pitchFamily="18" charset="0"/>
                <a:cs typeface="Times New Roman" panose="02020603050405020304" pitchFamily="18" charset="0"/>
              </a:rPr>
              <a:t>Feature Engineering: Converting textual data into numerical features using TF-IDF vectorization.</a:t>
            </a:r>
          </a:p>
          <a:p>
            <a:pPr>
              <a:buFont typeface="+mj-lt"/>
              <a:buAutoNum type="arabicPeriod"/>
            </a:pPr>
            <a:r>
              <a:rPr lang="en-US" sz="1900" dirty="0">
                <a:latin typeface="Times New Roman" panose="02020603050405020304" pitchFamily="18" charset="0"/>
                <a:cs typeface="Times New Roman" panose="02020603050405020304" pitchFamily="18" charset="0"/>
              </a:rPr>
              <a:t>Class Imbalance Handling: Applying oversampling and under-sampling strategies to ensure balanced learning.</a:t>
            </a:r>
          </a:p>
          <a:p>
            <a:pPr>
              <a:buFont typeface="+mj-lt"/>
              <a:buAutoNum type="arabicPeriod"/>
            </a:pPr>
            <a:r>
              <a:rPr lang="en-US" sz="1900" dirty="0">
                <a:latin typeface="Times New Roman" panose="02020603050405020304" pitchFamily="18" charset="0"/>
                <a:cs typeface="Times New Roman" panose="02020603050405020304" pitchFamily="18" charset="0"/>
              </a:rPr>
              <a:t>Model Optimization: Fine-tuning models using Grid Search and Cross-Validation for optimal performance.</a:t>
            </a:r>
          </a:p>
          <a:p>
            <a:pPr>
              <a:buFont typeface="+mj-lt"/>
              <a:buAutoNum type="arabicPeriod"/>
            </a:pPr>
            <a:r>
              <a:rPr lang="en-US" sz="1900" dirty="0">
                <a:latin typeface="Times New Roman" panose="02020603050405020304" pitchFamily="18" charset="0"/>
                <a:cs typeface="Times New Roman" panose="02020603050405020304" pitchFamily="18" charset="0"/>
              </a:rPr>
              <a:t>Topic Modeling: Identifying hidden themes within reviews through LDA and NMF clustering approaches.</a:t>
            </a:r>
            <a:endParaRPr lang="en-US" sz="1900" b="0" i="0" dirty="0">
              <a:effectLst/>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DEEC5E31-E3C2-4793-B31B-7806F088158E}"/>
              </a:ext>
            </a:extLst>
          </p:cNvPr>
          <p:cNvSpPr/>
          <p:nvPr/>
        </p:nvSpPr>
        <p:spPr>
          <a:xfrm>
            <a:off x="0" y="4474330"/>
            <a:ext cx="12192000" cy="1261884"/>
          </a:xfrm>
          <a:prstGeom prst="rect">
            <a:avLst/>
          </a:prstGeom>
        </p:spPr>
        <p:txBody>
          <a:bodyPr wrap="square">
            <a:spAutoFit/>
          </a:bodyPr>
          <a:lstStyle/>
          <a:p>
            <a:r>
              <a:rPr lang="en-US" sz="1900" dirty="0">
                <a:latin typeface="Times New Roman" panose="02020603050405020304" pitchFamily="18" charset="0"/>
                <a:cs typeface="Times New Roman" panose="02020603050405020304" pitchFamily="18" charset="0"/>
              </a:rPr>
              <a:t>A comparative evaluation of models such as Naive Bayes, SVM, LSTM networks, and </a:t>
            </a:r>
            <a:r>
              <a:rPr lang="en-US" sz="1900" dirty="0" err="1">
                <a:latin typeface="Times New Roman" panose="02020603050405020304" pitchFamily="18" charset="0"/>
                <a:cs typeface="Times New Roman" panose="02020603050405020304" pitchFamily="18" charset="0"/>
              </a:rPr>
              <a:t>XGBoost</a:t>
            </a:r>
            <a:r>
              <a:rPr lang="en-US" sz="1900" dirty="0">
                <a:latin typeface="Times New Roman" panose="02020603050405020304" pitchFamily="18" charset="0"/>
                <a:cs typeface="Times New Roman" panose="02020603050405020304" pitchFamily="18" charset="0"/>
              </a:rPr>
              <a:t> was performed. Performance metrics including precision, recall, F1-score, and AUC-ROC underscored the effectiveness of the final models.</a:t>
            </a:r>
          </a:p>
          <a:p>
            <a:r>
              <a:rPr lang="en-US" sz="1900" dirty="0">
                <a:latin typeface="Times New Roman" panose="02020603050405020304" pitchFamily="18" charset="0"/>
                <a:cs typeface="Times New Roman" panose="02020603050405020304" pitchFamily="18" charset="0"/>
              </a:rPr>
              <a:t>This project demonstrates how sentiment analysis can enhance understanding of customer feedback and support data-driven decision-making in e-commerce.</a:t>
            </a:r>
            <a:endParaRPr lang="en-US" sz="19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296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50326" y="212581"/>
            <a:ext cx="1987721" cy="707886"/>
          </a:xfrm>
          <a:prstGeom prst="rect">
            <a:avLst/>
          </a:prstGeom>
          <a:noFill/>
        </p:spPr>
        <p:txBody>
          <a:bodyPr wrap="square" rtlCol="0">
            <a:spAutoFit/>
          </a:bodyPr>
          <a:lstStyle/>
          <a:p>
            <a:r>
              <a:rPr lang="en-US"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a:t>
            </a:r>
            <a:endParaRPr lang="en-IN"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431628" y="777215"/>
            <a:ext cx="2060560" cy="1631216"/>
          </a:xfrm>
          <a:prstGeom prst="rect">
            <a:avLst/>
          </a:prstGeom>
          <a:noFill/>
        </p:spPr>
        <p:txBody>
          <a:bodyPr wrap="square" rtlCol="0">
            <a:spAutoFit/>
          </a:bodyPr>
          <a:lstStyle/>
          <a:p>
            <a:pPr lvl="0"/>
            <a:r>
              <a:rPr lang="en-IN" sz="2000" dirty="0">
                <a:latin typeface="Times New Roman" panose="02020603050405020304" pitchFamily="18" charset="0"/>
                <a:cs typeface="Times New Roman" panose="02020603050405020304" pitchFamily="18" charset="0"/>
              </a:rPr>
              <a:t>1. Introduction</a:t>
            </a:r>
          </a:p>
          <a:p>
            <a:pPr lvl="0"/>
            <a:r>
              <a:rPr lang="en-IN" sz="2000" dirty="0">
                <a:latin typeface="Times New Roman" panose="02020603050405020304" pitchFamily="18" charset="0"/>
                <a:cs typeface="Times New Roman" panose="02020603050405020304" pitchFamily="18" charset="0"/>
              </a:rPr>
              <a:t>2. Objectives</a:t>
            </a:r>
          </a:p>
          <a:p>
            <a:pPr lvl="0"/>
            <a:r>
              <a:rPr lang="en-IN" sz="2000" dirty="0">
                <a:latin typeface="Times New Roman" panose="02020603050405020304" pitchFamily="18" charset="0"/>
                <a:cs typeface="Times New Roman" panose="02020603050405020304" pitchFamily="18" charset="0"/>
              </a:rPr>
              <a:t>3. Methods</a:t>
            </a:r>
          </a:p>
          <a:p>
            <a:pPr lvl="0"/>
            <a:r>
              <a:rPr lang="en-IN" sz="2000" dirty="0">
                <a:latin typeface="Times New Roman" panose="02020603050405020304" pitchFamily="18" charset="0"/>
                <a:cs typeface="Times New Roman" panose="02020603050405020304" pitchFamily="18" charset="0"/>
              </a:rPr>
              <a:t>4. Results</a:t>
            </a:r>
          </a:p>
          <a:p>
            <a:pPr lvl="0"/>
            <a:r>
              <a:rPr lang="en-IN" sz="2000" dirty="0">
                <a:latin typeface="Times New Roman" panose="02020603050405020304" pitchFamily="18" charset="0"/>
                <a:cs typeface="Times New Roman" panose="02020603050405020304" pitchFamily="18" charset="0"/>
              </a:rPr>
              <a:t>5. Conclusions </a:t>
            </a:r>
          </a:p>
        </p:txBody>
      </p:sp>
      <p:sp>
        <p:nvSpPr>
          <p:cNvPr id="5" name="TextBox 4"/>
          <p:cNvSpPr txBox="1"/>
          <p:nvPr/>
        </p:nvSpPr>
        <p:spPr>
          <a:xfrm>
            <a:off x="4470110" y="2291907"/>
            <a:ext cx="2364509" cy="461665"/>
          </a:xfrm>
          <a:prstGeom prst="rect">
            <a:avLst/>
          </a:prstGeom>
          <a:noFill/>
        </p:spPr>
        <p:txBody>
          <a:bodyPr wrap="square" rtlCol="0">
            <a:spAutoFit/>
          </a:bodyPr>
          <a:lstStyle/>
          <a:p>
            <a:r>
              <a:rPr lang="en-US"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- 1</a:t>
            </a:r>
            <a:endParaRPr lang="en-IN"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p:cNvSpPr txBox="1"/>
          <p:nvPr/>
        </p:nvSpPr>
        <p:spPr>
          <a:xfrm>
            <a:off x="252412" y="2753572"/>
            <a:ext cx="2493818" cy="400110"/>
          </a:xfrm>
          <a:prstGeom prst="rect">
            <a:avLst/>
          </a:prstGeom>
          <a:noFill/>
        </p:spPr>
        <p:txBody>
          <a:bodyPr wrap="square" rtlCol="0">
            <a:spAutoFit/>
          </a:bodyPr>
          <a:lstStyle/>
          <a:p>
            <a:pPr lvl="0"/>
            <a:r>
              <a:rPr lang="en-IN" sz="2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Introduction </a:t>
            </a:r>
          </a:p>
        </p:txBody>
      </p:sp>
      <p:sp>
        <p:nvSpPr>
          <p:cNvPr id="8" name="TextBox 7"/>
          <p:cNvSpPr txBox="1"/>
          <p:nvPr/>
        </p:nvSpPr>
        <p:spPr>
          <a:xfrm>
            <a:off x="252412" y="3409153"/>
            <a:ext cx="11687175" cy="1754326"/>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project harnesses natural language processing (NLP) to automate the analysis of over 34,000 Amazon product reviews, focusing on two core objectives: sentiment analysis and topic modeling. The sentiment analysis task involves categorizing reviews as positive, negative, or neutral using a combination of traditional machine learning models (Naive Bayes, Support Vector Machines) and deep learning approaches (Long Short-Term Memory—LSTM networks). Complementing this, topic modeling techniques such as Latent Dirichlet Allocation (LDA) and Non-Negative Matrix Factorization (NMF) are utilized to reveal hidden themes and patterns within the customer feedback.</a:t>
            </a:r>
          </a:p>
        </p:txBody>
      </p:sp>
      <p:sp>
        <p:nvSpPr>
          <p:cNvPr id="2" name="Rectangle 1">
            <a:extLst>
              <a:ext uri="{FF2B5EF4-FFF2-40B4-BE49-F238E27FC236}">
                <a16:creationId xmlns:a16="http://schemas.microsoft.com/office/drawing/2014/main" id="{0A0093ED-2277-49F8-88FD-EC26BB1E201D}"/>
              </a:ext>
            </a:extLst>
          </p:cNvPr>
          <p:cNvSpPr/>
          <p:nvPr/>
        </p:nvSpPr>
        <p:spPr>
          <a:xfrm>
            <a:off x="252411" y="5163479"/>
            <a:ext cx="11687175" cy="646331"/>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By integrating these advanced analytical methods, the project delivers automated, unbiased insights into consumer sentiment and discussion topics, enabling data-driven improvements in product targeting and customer engagement strategies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2033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45014" y="206129"/>
            <a:ext cx="3149600" cy="584775"/>
          </a:xfrm>
          <a:prstGeom prst="rect">
            <a:avLst/>
          </a:prstGeom>
          <a:noFill/>
        </p:spPr>
        <p:txBody>
          <a:bodyPr wrap="square" rtlCol="0">
            <a:spAutoFit/>
          </a:bodyPr>
          <a:lstStyle/>
          <a:p>
            <a:pPr algn="ctr"/>
            <a:r>
              <a:rPr lang="en-US"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- 2</a:t>
            </a:r>
            <a:endParaRPr lang="en-IN"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466708" y="1063708"/>
            <a:ext cx="2678546" cy="461665"/>
          </a:xfrm>
          <a:prstGeom prst="rect">
            <a:avLst/>
          </a:prstGeom>
          <a:noFill/>
        </p:spPr>
        <p:txBody>
          <a:bodyPr wrap="square" rtlCol="0">
            <a:spAutoFit/>
          </a:bodyPr>
          <a:lstStyle/>
          <a:p>
            <a:pPr lvl="0"/>
            <a:r>
              <a:rPr lang="en-IN"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Objectives</a:t>
            </a:r>
            <a:r>
              <a:rPr lang="en-IN" sz="24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IN" sz="2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Box 9"/>
          <p:cNvSpPr txBox="1"/>
          <p:nvPr/>
        </p:nvSpPr>
        <p:spPr>
          <a:xfrm>
            <a:off x="466708" y="1600953"/>
            <a:ext cx="9163250" cy="369332"/>
          </a:xfrm>
          <a:prstGeom prst="rect">
            <a:avLst/>
          </a:prstGeom>
          <a:noFill/>
        </p:spPr>
        <p:txBody>
          <a:bodyPr wrap="square" rtlCol="0">
            <a:spAutoFit/>
          </a:bodyPr>
          <a:lstStyle/>
          <a:p>
            <a:r>
              <a:rPr lang="en-US" dirty="0"/>
              <a:t>The primary objectives of this project are as follows:</a:t>
            </a:r>
            <a:endParaRPr lang="en-IN" dirty="0"/>
          </a:p>
        </p:txBody>
      </p:sp>
      <p:sp>
        <p:nvSpPr>
          <p:cNvPr id="11" name="TextBox 10"/>
          <p:cNvSpPr txBox="1"/>
          <p:nvPr/>
        </p:nvSpPr>
        <p:spPr>
          <a:xfrm>
            <a:off x="466707" y="2209262"/>
            <a:ext cx="11277057" cy="4570482"/>
          </a:xfrm>
          <a:prstGeom prst="rect">
            <a:avLst/>
          </a:prstGeom>
          <a:noFill/>
        </p:spPr>
        <p:txBody>
          <a:bodyPr wrap="square" rtlCol="0">
            <a:spAutoFit/>
          </a:bodyPr>
          <a:lstStyle/>
          <a:p>
            <a:r>
              <a:rPr lang="en-US" sz="1900" b="1" dirty="0">
                <a:latin typeface="Times New Roman" panose="02020603050405020304" pitchFamily="18" charset="0"/>
                <a:cs typeface="Times New Roman" panose="02020603050405020304" pitchFamily="18" charset="0"/>
              </a:rPr>
              <a:t>Analyze Customer Sentiment:</a:t>
            </a:r>
            <a:r>
              <a:rPr lang="en-US" dirty="0">
                <a:latin typeface="Times New Roman" panose="02020603050405020304" pitchFamily="18" charset="0"/>
                <a:cs typeface="Times New Roman" panose="02020603050405020304" pitchFamily="18" charset="0"/>
              </a:rPr>
              <a:t> Process over 34,000 Amazon product reviews to categorize sentiment as positive, negative, or neutral, providing actionable insights into customer satisfaction and dissatisfaction.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a:t>
            </a:r>
            <a:r>
              <a:rPr lang="en-US" sz="1900" b="1" dirty="0">
                <a:latin typeface="Times New Roman" panose="02020603050405020304" pitchFamily="18" charset="0"/>
                <a:cs typeface="Times New Roman" panose="02020603050405020304" pitchFamily="18" charset="0"/>
              </a:rPr>
              <a:t>Address Class Imbalance:</a:t>
            </a:r>
            <a:r>
              <a:rPr lang="en-US" dirty="0">
                <a:latin typeface="Times New Roman" panose="02020603050405020304" pitchFamily="18" charset="0"/>
                <a:cs typeface="Times New Roman" panose="02020603050405020304" pitchFamily="18" charset="0"/>
              </a:rPr>
              <a:t> Tackle sentiment class imbalance using oversampling and under-sampling methods to ensure each sentiment category is fairly represented in the training process.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a:t>
            </a:r>
            <a:r>
              <a:rPr lang="en-US" sz="1900" b="1" dirty="0">
                <a:latin typeface="Times New Roman" panose="02020603050405020304" pitchFamily="18" charset="0"/>
                <a:cs typeface="Times New Roman" panose="02020603050405020304" pitchFamily="18" charset="0"/>
              </a:rPr>
              <a:t>Evaluate Diverse Classifiers:</a:t>
            </a:r>
            <a:r>
              <a:rPr lang="en-US" dirty="0"/>
              <a:t> </a:t>
            </a:r>
            <a:r>
              <a:rPr lang="en-US" dirty="0">
                <a:latin typeface="Times New Roman" panose="02020603050405020304" pitchFamily="18" charset="0"/>
                <a:cs typeface="Times New Roman" panose="02020603050405020304" pitchFamily="18" charset="0"/>
              </a:rPr>
              <a:t>Assess and compare the effectiveness of multiple machine learning models—such as Naive Bayes, Support Vector Machines (SVM), and advanced deep learning models like Long Short-Term Memory (LSTM) networks—for accurate sentiment classification.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a:t>
            </a:r>
            <a:r>
              <a:rPr lang="en-US" sz="1900" b="1" dirty="0">
                <a:latin typeface="Times New Roman" panose="02020603050405020304" pitchFamily="18" charset="0"/>
                <a:cs typeface="Times New Roman" panose="02020603050405020304" pitchFamily="18" charset="0"/>
              </a:rPr>
              <a:t>Advance Feature Engineering:</a:t>
            </a:r>
            <a:r>
              <a:rPr lang="en-US" dirty="0">
                <a:latin typeface="Times New Roman" panose="02020603050405020304" pitchFamily="18" charset="0"/>
                <a:cs typeface="Times New Roman" panose="02020603050405020304" pitchFamily="18" charset="0"/>
              </a:rPr>
              <a:t> Enhance model performance through robust feature engineering, including the calculation of Term Frequency-Inverse Document Frequency (TF-IDF) vectors and the generation of sentiment-based features to boost predictive accuracy.</a:t>
            </a: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284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1694" y="268941"/>
            <a:ext cx="11394141" cy="5986254"/>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a:t>
            </a:r>
            <a:r>
              <a:rPr lang="en-US" sz="1900" b="1" u="sng" dirty="0">
                <a:latin typeface="Times New Roman" panose="02020603050405020304" pitchFamily="18" charset="0"/>
                <a:cs typeface="Times New Roman" panose="02020603050405020304" pitchFamily="18" charset="0"/>
              </a:rPr>
              <a:t>Evaluate Model Performance:</a:t>
            </a:r>
            <a:r>
              <a:rPr lang="en-US" dirty="0"/>
              <a:t> </a:t>
            </a:r>
            <a:r>
              <a:rPr lang="en-US" dirty="0">
                <a:latin typeface="Times New Roman" panose="02020603050405020304" pitchFamily="18" charset="0"/>
                <a:cs typeface="Times New Roman" panose="02020603050405020304" pitchFamily="18" charset="0"/>
              </a:rPr>
              <a:t>Measure classifier effectiveness using metrics such as precision, recall, F1-score, and AUC-ROC, with a particular focus on F1-score to ensure balanced assessment amid class imbalance.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6.</a:t>
            </a:r>
            <a:r>
              <a:rPr lang="en-IN" sz="1900" b="1" u="sng" dirty="0">
                <a:latin typeface="Times New Roman" panose="02020603050405020304" pitchFamily="18" charset="0"/>
                <a:cs typeface="Times New Roman" panose="02020603050405020304" pitchFamily="18" charset="0"/>
              </a:rPr>
              <a:t>Apply Ensemble Techniques: </a:t>
            </a:r>
            <a:r>
              <a:rPr lang="en-IN" dirty="0">
                <a:latin typeface="Times New Roman" panose="02020603050405020304" pitchFamily="18" charset="0"/>
                <a:cs typeface="Times New Roman" panose="02020603050405020304" pitchFamily="18" charset="0"/>
              </a:rPr>
              <a:t>Investigate ensemble models, including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hybrid approaches combining algorithms like Multinomial Naive Bayes, to enhance classification performance and further address class imbalance.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a:t>
            </a:r>
            <a:r>
              <a:rPr lang="en-US" sz="1900" b="1" u="sng" dirty="0">
                <a:latin typeface="Times New Roman" panose="02020603050405020304" pitchFamily="18" charset="0"/>
                <a:cs typeface="Times New Roman" panose="02020603050405020304" pitchFamily="18" charset="0"/>
              </a:rPr>
              <a:t>Incorporate Topic Modeling </a:t>
            </a:r>
            <a:r>
              <a:rPr lang="en-US" sz="19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Apply techniques such as Latent Dirichlet Allocation (LDA) and Non-Negative Matrix Factorization (NMF) to identify latent topics in reviews and group them into meaningful clusters.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8. </a:t>
            </a:r>
            <a:r>
              <a:rPr lang="en-US" sz="1900" b="1" u="sng" dirty="0">
                <a:latin typeface="Times New Roman" panose="02020603050405020304" pitchFamily="18" charset="0"/>
                <a:cs typeface="Times New Roman" panose="02020603050405020304" pitchFamily="18" charset="0"/>
              </a:rPr>
              <a:t>Compare Model Approaches: </a:t>
            </a:r>
            <a:r>
              <a:rPr lang="en-US" dirty="0">
                <a:latin typeface="Times New Roman" panose="02020603050405020304" pitchFamily="18" charset="0"/>
                <a:cs typeface="Times New Roman" panose="02020603050405020304" pitchFamily="18" charset="0"/>
              </a:rPr>
              <a:t>Systematically compare the results of traditional machine learning methods with advanced deep learning frameworks, such as LSTM, to identify the optimal solution for sentiment classification.</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9</a:t>
            </a:r>
            <a:r>
              <a:rPr lang="en-US" sz="1900" b="1" u="sng" dirty="0">
                <a:latin typeface="Times New Roman" panose="02020603050405020304" pitchFamily="18" charset="0"/>
                <a:cs typeface="Times New Roman" panose="02020603050405020304" pitchFamily="18" charset="0"/>
              </a:rPr>
              <a:t>. Optimize Parameters:</a:t>
            </a:r>
            <a:r>
              <a:rPr lang="en-US" dirty="0">
                <a:latin typeface="Times New Roman" panose="02020603050405020304" pitchFamily="18" charset="0"/>
                <a:cs typeface="Times New Roman" panose="02020603050405020304" pitchFamily="18" charset="0"/>
              </a:rPr>
              <a:t> Employ model optimization strategies, including Grid Search, Random Search, and Cross-Validation, to fine-tune hyperparameters and maximize predictive accuracy.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10</a:t>
            </a:r>
            <a:r>
              <a:rPr lang="en-US" sz="1900" b="1" u="sng" dirty="0">
                <a:latin typeface="Times New Roman" panose="02020603050405020304" pitchFamily="18" charset="0"/>
                <a:cs typeface="Times New Roman" panose="02020603050405020304" pitchFamily="18" charset="0"/>
              </a:rPr>
              <a:t>. Deliver Actionable Insights:</a:t>
            </a:r>
            <a:r>
              <a:rPr lang="en-US" dirty="0">
                <a:latin typeface="Times New Roman" panose="02020603050405020304" pitchFamily="18" charset="0"/>
                <a:cs typeface="Times New Roman" panose="02020603050405020304" pitchFamily="18" charset="0"/>
              </a:rPr>
              <a:t> Translate analytical findings into actionable insights for e-commerce stakeholders, highlighting customer preferences, emerging concerns, and levels of satisfaction to inform data-driven strategies and marketing initiatives.</a:t>
            </a:r>
          </a:p>
          <a:p>
            <a:br>
              <a:rPr lang="en-US" dirty="0"/>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8725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1785" y="127724"/>
            <a:ext cx="3398981" cy="646331"/>
          </a:xfrm>
          <a:prstGeom prst="rect">
            <a:avLst/>
          </a:prstGeom>
          <a:noFill/>
        </p:spPr>
        <p:txBody>
          <a:bodyPr wrap="square" rtlCol="0">
            <a:spAutoFit/>
          </a:bodyPr>
          <a:lstStyle/>
          <a:p>
            <a:pPr algn="ctr"/>
            <a:r>
              <a:rPr lang="en-US"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- 3</a:t>
            </a:r>
            <a:endPar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663932" y="774055"/>
            <a:ext cx="2733963" cy="461665"/>
          </a:xfrm>
          <a:prstGeom prst="rect">
            <a:avLst/>
          </a:prstGeom>
          <a:noFill/>
        </p:spPr>
        <p:txBody>
          <a:bodyPr wrap="square" rtlCol="0">
            <a:spAutoFit/>
          </a:bodyPr>
          <a:lstStyle/>
          <a:p>
            <a:pPr lvl="0"/>
            <a:r>
              <a:rPr lang="en-IN" sz="2400" b="1" u="sng" dirty="0">
                <a:latin typeface="Times New Roman" panose="02020603050405020304" pitchFamily="18" charset="0"/>
                <a:cs typeface="Times New Roman" panose="02020603050405020304" pitchFamily="18" charset="0"/>
              </a:rPr>
              <a:t>3. Methods</a:t>
            </a:r>
          </a:p>
        </p:txBody>
      </p:sp>
      <p:sp>
        <p:nvSpPr>
          <p:cNvPr id="6" name="TextBox 5"/>
          <p:cNvSpPr txBox="1"/>
          <p:nvPr/>
        </p:nvSpPr>
        <p:spPr>
          <a:xfrm>
            <a:off x="532890" y="1278404"/>
            <a:ext cx="5730010" cy="400110"/>
          </a:xfrm>
          <a:prstGeom prst="rect">
            <a:avLst/>
          </a:prstGeom>
          <a:noFill/>
        </p:spPr>
        <p:txBody>
          <a:bodyPr wrap="square" rtlCol="0">
            <a:spAutoFit/>
          </a:bodyPr>
          <a:lstStyle/>
          <a:p>
            <a:r>
              <a:rPr lang="en-IN" sz="2000" b="1" u="sng" dirty="0">
                <a:latin typeface="Times New Roman" panose="02020603050405020304" pitchFamily="18" charset="0"/>
                <a:cs typeface="Times New Roman" panose="02020603050405020304" pitchFamily="18" charset="0"/>
              </a:rPr>
              <a:t>(</a:t>
            </a:r>
            <a:r>
              <a:rPr lang="en-IN" sz="2000" b="1" u="sng" dirty="0" err="1">
                <a:latin typeface="Times New Roman" panose="02020603050405020304" pitchFamily="18" charset="0"/>
                <a:cs typeface="Times New Roman" panose="02020603050405020304" pitchFamily="18" charset="0"/>
              </a:rPr>
              <a:t>i</a:t>
            </a:r>
            <a:r>
              <a:rPr lang="en-IN" sz="2000" b="1" u="sng"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Data Collection and Preprocessing</a:t>
            </a:r>
            <a:r>
              <a:rPr lang="en-IN" sz="2000" b="1" u="sng" dirty="0">
                <a:latin typeface="Times New Roman" panose="02020603050405020304" pitchFamily="18" charset="0"/>
                <a:cs typeface="Times New Roman" panose="02020603050405020304" pitchFamily="18" charset="0"/>
              </a:rPr>
              <a:t>:</a:t>
            </a:r>
          </a:p>
        </p:txBody>
      </p:sp>
      <p:sp>
        <p:nvSpPr>
          <p:cNvPr id="7" name="TextBox 6"/>
          <p:cNvSpPr txBox="1"/>
          <p:nvPr/>
        </p:nvSpPr>
        <p:spPr>
          <a:xfrm>
            <a:off x="532890" y="1690420"/>
            <a:ext cx="9870209" cy="5078313"/>
          </a:xfrm>
          <a:prstGeom prst="rect">
            <a:avLst/>
          </a:prstGeom>
          <a:noFill/>
        </p:spPr>
        <p:txBody>
          <a:bodyPr wrap="square" rtlCol="0">
            <a:spAutoFit/>
          </a:bodyPr>
          <a:lstStyle/>
          <a:p>
            <a:r>
              <a:rPr lang="en-US" b="1" u="sng" dirty="0">
                <a:latin typeface="Times New Roman" panose="02020603050405020304" pitchFamily="18" charset="0"/>
                <a:cs typeface="Times New Roman" panose="02020603050405020304" pitchFamily="18" charset="0"/>
              </a:rPr>
              <a:t>Dataset Overview: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dataset consists of over 34,000 Amazon product reviews, each containing attributes such as product name, brand, category, review text, review title, and sentiment label (positive, negative, or neutral). This comprehensive structure enables nuanced analysis across various products and customer sentiments.​</a:t>
            </a:r>
          </a:p>
          <a:p>
            <a:br>
              <a:rPr lang="en-US" dirty="0"/>
            </a:br>
            <a:r>
              <a:rPr lang="en-US" b="1" dirty="0">
                <a:latin typeface="Times New Roman" panose="02020603050405020304" pitchFamily="18" charset="0"/>
                <a:cs typeface="Times New Roman" panose="02020603050405020304" pitchFamily="18" charset="0"/>
              </a:rPr>
              <a:t>Preprocessing Steps: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 Text normalization by converting all review content to lowercase, ensuring consistency across the dataset.</a:t>
            </a:r>
          </a:p>
          <a:p>
            <a:r>
              <a:rPr lang="en-US" dirty="0">
                <a:latin typeface="Times New Roman" panose="02020603050405020304" pitchFamily="18" charset="0"/>
                <a:cs typeface="Times New Roman" panose="02020603050405020304" pitchFamily="18" charset="0"/>
              </a:rPr>
              <a:t>2. Removal of special characters, punctuation, and </a:t>
            </a:r>
            <a:r>
              <a:rPr lang="en-US" dirty="0" err="1">
                <a:latin typeface="Times New Roman" panose="02020603050405020304" pitchFamily="18" charset="0"/>
                <a:cs typeface="Times New Roman" panose="02020603050405020304" pitchFamily="18" charset="0"/>
              </a:rPr>
              <a:t>stopwords</a:t>
            </a:r>
            <a:r>
              <a:rPr lang="en-US" dirty="0">
                <a:latin typeface="Times New Roman" panose="02020603050405020304" pitchFamily="18" charset="0"/>
                <a:cs typeface="Times New Roman" panose="02020603050405020304" pitchFamily="18" charset="0"/>
              </a:rPr>
              <a:t> to eliminate noise and irrelevant elements.</a:t>
            </a:r>
          </a:p>
          <a:p>
            <a:r>
              <a:rPr lang="en-US" dirty="0">
                <a:latin typeface="Times New Roman" panose="02020603050405020304" pitchFamily="18" charset="0"/>
                <a:cs typeface="Times New Roman" panose="02020603050405020304" pitchFamily="18" charset="0"/>
              </a:rPr>
              <a:t>3. Tokenize review text into individual words.</a:t>
            </a:r>
          </a:p>
          <a:p>
            <a:r>
              <a:rPr lang="en-US" dirty="0">
                <a:latin typeface="Times New Roman" panose="02020603050405020304" pitchFamily="18" charset="0"/>
                <a:cs typeface="Times New Roman" panose="02020603050405020304" pitchFamily="18" charset="0"/>
              </a:rPr>
              <a:t>4. Apply stemming and lemmatization to standardize word forms.</a:t>
            </a:r>
          </a:p>
          <a:p>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(ii). Exploratory Data Analysis (EDA)</a:t>
            </a:r>
          </a:p>
          <a:p>
            <a:r>
              <a:rPr lang="en-US" dirty="0">
                <a:latin typeface="Times New Roman" panose="02020603050405020304" pitchFamily="18" charset="0"/>
                <a:cs typeface="Times New Roman" panose="02020603050405020304" pitchFamily="18" charset="0"/>
              </a:rPr>
              <a:t>A detailed EDA phase uncovers distribution patterns, sentiment proportions, product-specific review trends, and common keywords, setting a solid foundation for effective feature engineering and model selection.</a:t>
            </a:r>
            <a:endParaRPr lang="en-US"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856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BBB177-9AD7-428F-ADAA-DC3676BDBAD3}"/>
              </a:ext>
            </a:extLst>
          </p:cNvPr>
          <p:cNvSpPr/>
          <p:nvPr/>
        </p:nvSpPr>
        <p:spPr>
          <a:xfrm>
            <a:off x="3926542" y="26894"/>
            <a:ext cx="3657600" cy="806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b="1" dirty="0">
                <a:latin typeface="Times New Roman" panose="02020603050405020304" pitchFamily="18" charset="0"/>
                <a:cs typeface="Times New Roman" panose="02020603050405020304" pitchFamily="18" charset="0"/>
              </a:rPr>
              <a:t>Class Imbalance</a:t>
            </a:r>
            <a:endParaRPr lang="en-IN" sz="25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3C7C90-C552-429B-9656-1EF440D15D49}"/>
              </a:ext>
            </a:extLst>
          </p:cNvPr>
          <p:cNvPicPr>
            <a:picLocks noChangeAspect="1"/>
          </p:cNvPicPr>
          <p:nvPr/>
        </p:nvPicPr>
        <p:blipFill>
          <a:blip r:embed="rId2"/>
          <a:stretch>
            <a:fillRect/>
          </a:stretch>
        </p:blipFill>
        <p:spPr>
          <a:xfrm>
            <a:off x="574862" y="1047750"/>
            <a:ext cx="11042276" cy="5554756"/>
          </a:xfrm>
          <a:prstGeom prst="rect">
            <a:avLst/>
          </a:prstGeom>
        </p:spPr>
      </p:pic>
    </p:spTree>
    <p:extLst>
      <p:ext uri="{BB962C8B-B14F-4D97-AF65-F5344CB8AC3E}">
        <p14:creationId xmlns:p14="http://schemas.microsoft.com/office/powerpoint/2010/main" val="4007235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F7868E-C57C-44A8-874A-4185C2EED99D}"/>
              </a:ext>
            </a:extLst>
          </p:cNvPr>
          <p:cNvSpPr txBox="1"/>
          <p:nvPr/>
        </p:nvSpPr>
        <p:spPr>
          <a:xfrm>
            <a:off x="280147" y="369794"/>
            <a:ext cx="5286935" cy="646331"/>
          </a:xfrm>
          <a:prstGeom prst="rect">
            <a:avLst/>
          </a:prstGeom>
          <a:noFill/>
        </p:spPr>
        <p:txBody>
          <a:bodyPr wrap="square" rtlCol="0">
            <a:spAutoFit/>
          </a:bodyPr>
          <a:lstStyle/>
          <a:p>
            <a:pPr algn="ctr"/>
            <a:r>
              <a:rPr lang="en-US" b="1" u="sng" dirty="0">
                <a:latin typeface="Times New Roman" panose="02020603050405020304" pitchFamily="18" charset="0"/>
                <a:cs typeface="Times New Roman" panose="02020603050405020304" pitchFamily="18" charset="0"/>
              </a:rPr>
              <a:t>Class Distribution After </a:t>
            </a:r>
            <a:r>
              <a:rPr lang="en-US" b="1" u="sng" dirty="0" err="1">
                <a:latin typeface="Times New Roman" panose="02020603050405020304" pitchFamily="18" charset="0"/>
                <a:cs typeface="Times New Roman" panose="02020603050405020304" pitchFamily="18" charset="0"/>
              </a:rPr>
              <a:t>NearMiss</a:t>
            </a:r>
            <a:r>
              <a:rPr lang="en-US" b="1" u="sng" dirty="0">
                <a:latin typeface="Times New Roman" panose="02020603050405020304" pitchFamily="18" charset="0"/>
                <a:cs typeface="Times New Roman" panose="02020603050405020304" pitchFamily="18" charset="0"/>
              </a:rPr>
              <a:t> </a:t>
            </a:r>
            <a:r>
              <a:rPr lang="en-US" b="1" u="sng" dirty="0" err="1">
                <a:latin typeface="Times New Roman" panose="02020603050405020304" pitchFamily="18" charset="0"/>
                <a:cs typeface="Times New Roman" panose="02020603050405020304" pitchFamily="18" charset="0"/>
              </a:rPr>
              <a:t>Undersampling</a:t>
            </a:r>
            <a:r>
              <a:rPr lang="en-US" b="1" u="sng" dirty="0">
                <a:latin typeface="Times New Roman" panose="02020603050405020304" pitchFamily="18" charset="0"/>
                <a:cs typeface="Times New Roman" panose="02020603050405020304" pitchFamily="18" charset="0"/>
              </a:rPr>
              <a:t> (Train Set)</a:t>
            </a:r>
          </a:p>
        </p:txBody>
      </p:sp>
      <p:sp>
        <p:nvSpPr>
          <p:cNvPr id="3" name="TextBox 2">
            <a:extLst>
              <a:ext uri="{FF2B5EF4-FFF2-40B4-BE49-F238E27FC236}">
                <a16:creationId xmlns:a16="http://schemas.microsoft.com/office/drawing/2014/main" id="{F2926939-B221-502D-51E8-744B2B5E7575}"/>
              </a:ext>
            </a:extLst>
          </p:cNvPr>
          <p:cNvSpPr txBox="1"/>
          <p:nvPr/>
        </p:nvSpPr>
        <p:spPr>
          <a:xfrm>
            <a:off x="6418730" y="369794"/>
            <a:ext cx="5493123" cy="923330"/>
          </a:xfrm>
          <a:prstGeom prst="rect">
            <a:avLst/>
          </a:prstGeom>
          <a:noFill/>
        </p:spPr>
        <p:txBody>
          <a:bodyPr wrap="square">
            <a:spAutoFit/>
          </a:bodyPr>
          <a:lstStyle/>
          <a:p>
            <a:pPr algn="ctr"/>
            <a:r>
              <a:rPr lang="en-US" b="1" u="sng" dirty="0">
                <a:latin typeface="Times New Roman" panose="02020603050405020304" pitchFamily="18" charset="0"/>
                <a:cs typeface="Times New Roman" panose="02020603050405020304" pitchFamily="18" charset="0"/>
              </a:rPr>
              <a:t>(iii). Class Imbalance Handling</a:t>
            </a:r>
            <a:r>
              <a:rPr lang="en-IN" b="1" u="sng" dirty="0">
                <a:latin typeface="Times New Roman" panose="02020603050405020304" pitchFamily="18" charset="0"/>
                <a:cs typeface="Times New Roman" panose="02020603050405020304" pitchFamily="18" charset="0"/>
              </a:rPr>
              <a:t>:</a:t>
            </a:r>
          </a:p>
          <a:p>
            <a:pPr algn="ctr"/>
            <a:r>
              <a:rPr lang="en-IN" b="1" u="sng"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Applied oversampling (e.g., SMOTE) and under-sampling techniques.</a:t>
            </a:r>
            <a:r>
              <a:rPr lang="en-IN" b="1" u="sng"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CCEA4BB6-5C7E-4086-B1E2-64D5A797241B}"/>
              </a:ext>
            </a:extLst>
          </p:cNvPr>
          <p:cNvPicPr>
            <a:picLocks noChangeAspect="1"/>
          </p:cNvPicPr>
          <p:nvPr/>
        </p:nvPicPr>
        <p:blipFill>
          <a:blip r:embed="rId2"/>
          <a:stretch>
            <a:fillRect/>
          </a:stretch>
        </p:blipFill>
        <p:spPr>
          <a:xfrm>
            <a:off x="6096000" y="1620391"/>
            <a:ext cx="5887571" cy="4987898"/>
          </a:xfrm>
          <a:prstGeom prst="rect">
            <a:avLst/>
          </a:prstGeom>
        </p:spPr>
      </p:pic>
      <p:pic>
        <p:nvPicPr>
          <p:cNvPr id="6" name="Picture 2">
            <a:extLst>
              <a:ext uri="{FF2B5EF4-FFF2-40B4-BE49-F238E27FC236}">
                <a16:creationId xmlns:a16="http://schemas.microsoft.com/office/drawing/2014/main" id="{416539DC-6B79-4DC2-A64E-656ED5D2A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40" y="1640581"/>
            <a:ext cx="5886450" cy="4967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7425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B3ABE5B-1359-43CB-9679-D8DC30B54498}"/>
              </a:ext>
            </a:extLst>
          </p:cNvPr>
          <p:cNvSpPr txBox="1"/>
          <p:nvPr/>
        </p:nvSpPr>
        <p:spPr>
          <a:xfrm>
            <a:off x="1676400" y="171450"/>
            <a:ext cx="8839200" cy="646331"/>
          </a:xfrm>
          <a:prstGeom prst="rect">
            <a:avLst/>
          </a:prstGeom>
          <a:noFill/>
        </p:spPr>
        <p:txBody>
          <a:bodyPr wrap="square" rtlCol="0">
            <a:spAutoFit/>
          </a:bodyPr>
          <a:lstStyle/>
          <a:p>
            <a:pPr algn="ctr"/>
            <a:r>
              <a:rPr lang="en-US" b="1" u="sng" dirty="0">
                <a:latin typeface="Times New Roman" panose="02020603050405020304" pitchFamily="18" charset="0"/>
                <a:cs typeface="Times New Roman" panose="02020603050405020304" pitchFamily="18" charset="0"/>
              </a:rPr>
              <a:t>(iv). Feature Engineering:</a:t>
            </a:r>
          </a:p>
          <a:p>
            <a:pPr algn="ctr"/>
            <a:r>
              <a:rPr lang="en-US" b="1" u="sng" dirty="0">
                <a:latin typeface="Times New Roman" panose="02020603050405020304" pitchFamily="18" charset="0"/>
                <a:cs typeface="Times New Roman" panose="02020603050405020304" pitchFamily="18" charset="0"/>
              </a:rPr>
              <a:t>* Transformed review text into numerical features using TF-IDF Vectorization.</a:t>
            </a:r>
          </a:p>
        </p:txBody>
      </p:sp>
      <p:sp>
        <p:nvSpPr>
          <p:cNvPr id="4" name="TextBox 3">
            <a:extLst>
              <a:ext uri="{FF2B5EF4-FFF2-40B4-BE49-F238E27FC236}">
                <a16:creationId xmlns:a16="http://schemas.microsoft.com/office/drawing/2014/main" id="{1BED8736-8770-AF9F-3F51-56BAC555A1FD}"/>
              </a:ext>
            </a:extLst>
          </p:cNvPr>
          <p:cNvSpPr txBox="1"/>
          <p:nvPr/>
        </p:nvSpPr>
        <p:spPr>
          <a:xfrm>
            <a:off x="224115" y="3339134"/>
            <a:ext cx="11582400" cy="646331"/>
          </a:xfrm>
          <a:prstGeom prst="rect">
            <a:avLst/>
          </a:prstGeom>
          <a:noFill/>
        </p:spPr>
        <p:txBody>
          <a:bodyPr wrap="square">
            <a:spAutoFit/>
          </a:bodyPr>
          <a:lstStyle/>
          <a:p>
            <a:pPr algn="ctr"/>
            <a:r>
              <a:rPr lang="en-US" b="1" u="sng" dirty="0">
                <a:latin typeface="Times New Roman" panose="02020603050405020304" pitchFamily="18" charset="0"/>
                <a:cs typeface="Times New Roman" panose="02020603050405020304" pitchFamily="18" charset="0"/>
              </a:rPr>
              <a:t>(v). Model Implementation:</a:t>
            </a:r>
          </a:p>
          <a:p>
            <a:pPr algn="ctr"/>
            <a:r>
              <a:rPr lang="en-US" b="1" u="sng" dirty="0">
                <a:latin typeface="Times New Roman" panose="02020603050405020304" pitchFamily="18" charset="0"/>
                <a:cs typeface="Times New Roman" panose="02020603050405020304" pitchFamily="18" charset="0"/>
              </a:rPr>
              <a:t>* Baseline Model</a:t>
            </a:r>
            <a:r>
              <a:rPr lang="en-US" u="sng" dirty="0">
                <a:latin typeface="Times New Roman" panose="02020603050405020304" pitchFamily="18" charset="0"/>
                <a:cs typeface="Times New Roman" panose="02020603050405020304" pitchFamily="18" charset="0"/>
              </a:rPr>
              <a:t>: Implemented Multinomial Naive Bayes as a starting classifier.</a:t>
            </a:r>
            <a:endParaRPr lang="en-US" b="1"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FC5695-360C-4F93-A2F7-342DDBAE14A0}"/>
              </a:ext>
            </a:extLst>
          </p:cNvPr>
          <p:cNvPicPr>
            <a:picLocks noChangeAspect="1"/>
          </p:cNvPicPr>
          <p:nvPr/>
        </p:nvPicPr>
        <p:blipFill>
          <a:blip r:embed="rId2"/>
          <a:stretch>
            <a:fillRect/>
          </a:stretch>
        </p:blipFill>
        <p:spPr>
          <a:xfrm>
            <a:off x="224116" y="918716"/>
            <a:ext cx="11672610" cy="2743583"/>
          </a:xfrm>
          <a:prstGeom prst="rect">
            <a:avLst/>
          </a:prstGeom>
        </p:spPr>
      </p:pic>
      <p:pic>
        <p:nvPicPr>
          <p:cNvPr id="9" name="Picture 8">
            <a:extLst>
              <a:ext uri="{FF2B5EF4-FFF2-40B4-BE49-F238E27FC236}">
                <a16:creationId xmlns:a16="http://schemas.microsoft.com/office/drawing/2014/main" id="{9BD05125-A783-4823-8530-E1CB22FC5FDC}"/>
              </a:ext>
            </a:extLst>
          </p:cNvPr>
          <p:cNvPicPr>
            <a:picLocks noChangeAspect="1"/>
          </p:cNvPicPr>
          <p:nvPr/>
        </p:nvPicPr>
        <p:blipFill>
          <a:blip r:embed="rId3"/>
          <a:stretch>
            <a:fillRect/>
          </a:stretch>
        </p:blipFill>
        <p:spPr>
          <a:xfrm>
            <a:off x="224116" y="3998333"/>
            <a:ext cx="11672610" cy="2743583"/>
          </a:xfrm>
          <a:prstGeom prst="rect">
            <a:avLst/>
          </a:prstGeom>
        </p:spPr>
      </p:pic>
    </p:spTree>
    <p:extLst>
      <p:ext uri="{BB962C8B-B14F-4D97-AF65-F5344CB8AC3E}">
        <p14:creationId xmlns:p14="http://schemas.microsoft.com/office/powerpoint/2010/main" val="3759886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FD3E5E9-5948-4061-B768-8260D6239077}"/>
              </a:ext>
            </a:extLst>
          </p:cNvPr>
          <p:cNvSpPr txBox="1"/>
          <p:nvPr/>
        </p:nvSpPr>
        <p:spPr>
          <a:xfrm>
            <a:off x="3242658" y="295275"/>
            <a:ext cx="6250966" cy="2139047"/>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Summary of Model Testing and Evaluation</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3E9B61-345F-433D-BC34-A96AA4AC1CD4}"/>
              </a:ext>
            </a:extLst>
          </p:cNvPr>
          <p:cNvPicPr>
            <a:picLocks noChangeAspect="1"/>
          </p:cNvPicPr>
          <p:nvPr/>
        </p:nvPicPr>
        <p:blipFill>
          <a:blip r:embed="rId2"/>
          <a:stretch>
            <a:fillRect/>
          </a:stretch>
        </p:blipFill>
        <p:spPr>
          <a:xfrm>
            <a:off x="185656" y="874059"/>
            <a:ext cx="11820688" cy="5876365"/>
          </a:xfrm>
          <a:prstGeom prst="rect">
            <a:avLst/>
          </a:prstGeom>
        </p:spPr>
      </p:pic>
    </p:spTree>
    <p:extLst>
      <p:ext uri="{BB962C8B-B14F-4D97-AF65-F5344CB8AC3E}">
        <p14:creationId xmlns:p14="http://schemas.microsoft.com/office/powerpoint/2010/main" val="709520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50927" y="188226"/>
            <a:ext cx="2983345" cy="954107"/>
          </a:xfrm>
          <a:prstGeom prst="rect">
            <a:avLst/>
          </a:prstGeom>
          <a:noFill/>
        </p:spPr>
        <p:txBody>
          <a:bodyPr wrap="square" rtlCol="0">
            <a:spAutoFit/>
          </a:bodyPr>
          <a:lstStyle/>
          <a:p>
            <a:r>
              <a:rPr lang="en-US"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- 4</a:t>
            </a:r>
            <a:endPar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sz="2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563656" y="819167"/>
            <a:ext cx="3001818" cy="461665"/>
          </a:xfrm>
          <a:prstGeom prst="rect">
            <a:avLst/>
          </a:prstGeom>
          <a:noFill/>
        </p:spPr>
        <p:txBody>
          <a:bodyPr wrap="square" rtlCol="0">
            <a:spAutoFit/>
          </a:bodyPr>
          <a:lstStyle/>
          <a:p>
            <a:pPr lvl="0"/>
            <a:r>
              <a:rPr lang="en-IN" sz="2400" b="1" u="sng" dirty="0">
                <a:latin typeface="Times New Roman" panose="02020603050405020304" pitchFamily="18" charset="0"/>
                <a:cs typeface="Times New Roman" panose="02020603050405020304" pitchFamily="18" charset="0"/>
              </a:rPr>
              <a:t>4. Results:</a:t>
            </a:r>
          </a:p>
        </p:txBody>
      </p:sp>
      <p:sp>
        <p:nvSpPr>
          <p:cNvPr id="4" name="TextBox 3"/>
          <p:cNvSpPr txBox="1"/>
          <p:nvPr/>
        </p:nvSpPr>
        <p:spPr>
          <a:xfrm>
            <a:off x="563656" y="1596303"/>
            <a:ext cx="9809884" cy="2862322"/>
          </a:xfrm>
          <a:prstGeom prst="rect">
            <a:avLst/>
          </a:prstGeom>
          <a:noFill/>
        </p:spPr>
        <p:txBody>
          <a:bodyPr wrap="square" rtlCol="0">
            <a:spAutoFit/>
          </a:bodyPr>
          <a:lstStyle/>
          <a:p>
            <a:pPr marL="342900" indent="-342900">
              <a:buAutoNum type="arabicPeriod"/>
            </a:pPr>
            <a:r>
              <a:rPr lang="en-US" b="1" u="sng" dirty="0">
                <a:latin typeface="Times New Roman" panose="02020603050405020304" pitchFamily="18" charset="0"/>
                <a:cs typeface="Times New Roman" panose="02020603050405020304" pitchFamily="18" charset="0"/>
              </a:rPr>
              <a:t>Exploratory Data Analysis (EDA):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The sentiment distribution revealed class imbalance:</a:t>
            </a:r>
          </a:p>
          <a:p>
            <a:pPr lvl="1"/>
            <a:r>
              <a:rPr lang="en-US" b="1" dirty="0">
                <a:latin typeface="Times New Roman" panose="02020603050405020304" pitchFamily="18" charset="0"/>
                <a:cs typeface="Times New Roman" panose="02020603050405020304" pitchFamily="18" charset="0"/>
              </a:rPr>
              <a:t>Positive Reviews</a:t>
            </a:r>
            <a:r>
              <a:rPr lang="en-US" dirty="0">
                <a:latin typeface="Times New Roman" panose="02020603050405020304" pitchFamily="18" charset="0"/>
                <a:cs typeface="Times New Roman" panose="02020603050405020304" pitchFamily="18" charset="0"/>
              </a:rPr>
              <a:t>: ~93%</a:t>
            </a:r>
          </a:p>
          <a:p>
            <a:pPr lvl="1"/>
            <a:r>
              <a:rPr lang="en-US" b="1" dirty="0">
                <a:latin typeface="Times New Roman" panose="02020603050405020304" pitchFamily="18" charset="0"/>
                <a:cs typeface="Times New Roman" panose="02020603050405020304" pitchFamily="18" charset="0"/>
              </a:rPr>
              <a:t>Neutral Reviews</a:t>
            </a:r>
            <a:r>
              <a:rPr lang="en-US" dirty="0">
                <a:latin typeface="Times New Roman" panose="02020603050405020304" pitchFamily="18" charset="0"/>
                <a:cs typeface="Times New Roman" panose="02020603050405020304" pitchFamily="18" charset="0"/>
              </a:rPr>
              <a:t>: ~4%</a:t>
            </a:r>
          </a:p>
          <a:p>
            <a:pPr lvl="1"/>
            <a:r>
              <a:rPr lang="en-US" b="1" dirty="0">
                <a:latin typeface="Times New Roman" panose="02020603050405020304" pitchFamily="18" charset="0"/>
                <a:cs typeface="Times New Roman" panose="02020603050405020304" pitchFamily="18" charset="0"/>
              </a:rPr>
              <a:t>Negative Reviews</a:t>
            </a:r>
            <a:r>
              <a:rPr lang="en-US" dirty="0">
                <a:latin typeface="Times New Roman" panose="02020603050405020304" pitchFamily="18" charset="0"/>
                <a:cs typeface="Times New Roman" panose="02020603050405020304" pitchFamily="18" charset="0"/>
              </a:rPr>
              <a:t>: ~3%</a:t>
            </a:r>
          </a:p>
          <a:p>
            <a:r>
              <a:rPr lang="en-US" dirty="0">
                <a:latin typeface="Times New Roman" panose="02020603050405020304" pitchFamily="18" charset="0"/>
                <a:cs typeface="Times New Roman" panose="02020603050405020304" pitchFamily="18" charset="0"/>
              </a:rPr>
              <a:t>* Significant patterns identified:</a:t>
            </a:r>
          </a:p>
          <a:p>
            <a:pPr lvl="1"/>
            <a:r>
              <a:rPr lang="en-US" dirty="0">
                <a:latin typeface="Times New Roman" panose="02020603050405020304" pitchFamily="18" charset="0"/>
                <a:cs typeface="Times New Roman" panose="02020603050405020304" pitchFamily="18" charset="0"/>
              </a:rPr>
              <a:t>Negative reviews often highlighted product durability issues.</a:t>
            </a:r>
          </a:p>
          <a:p>
            <a:pPr lvl="1"/>
            <a:r>
              <a:rPr lang="en-US" dirty="0">
                <a:latin typeface="Times New Roman" panose="02020603050405020304" pitchFamily="18" charset="0"/>
                <a:cs typeface="Times New Roman" panose="02020603050405020304" pitchFamily="18" charset="0"/>
              </a:rPr>
              <a:t>Positive reviews frequently mentioned affordability and aesthetics.</a:t>
            </a:r>
          </a:p>
          <a:p>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FAD933-0732-4A55-9190-C155AD829871}"/>
              </a:ext>
            </a:extLst>
          </p:cNvPr>
          <p:cNvSpPr txBox="1"/>
          <p:nvPr/>
        </p:nvSpPr>
        <p:spPr>
          <a:xfrm>
            <a:off x="563656" y="4384534"/>
            <a:ext cx="9915525"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 </a:t>
            </a:r>
            <a:r>
              <a:rPr lang="en-US" b="1" u="sng" dirty="0">
                <a:latin typeface="Times New Roman" panose="02020603050405020304" pitchFamily="18" charset="0"/>
                <a:cs typeface="Times New Roman" panose="02020603050405020304" pitchFamily="18" charset="0"/>
              </a:rPr>
              <a:t>Class Imbalance Resolution: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Balancing techniques improved model performance: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SMOTE Oversampling</a:t>
            </a:r>
            <a:r>
              <a:rPr lang="en-US" dirty="0">
                <a:latin typeface="Times New Roman" panose="02020603050405020304" pitchFamily="18" charset="0"/>
                <a:cs typeface="Times New Roman" panose="02020603050405020304" pitchFamily="18" charset="0"/>
              </a:rPr>
              <a:t> effectively increased recall for minority classes.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Combination Sampling</a:t>
            </a:r>
            <a:r>
              <a:rPr lang="en-US" dirty="0">
                <a:latin typeface="Times New Roman" panose="02020603050405020304" pitchFamily="18" charset="0"/>
                <a:cs typeface="Times New Roman" panose="02020603050405020304" pitchFamily="18" charset="0"/>
              </a:rPr>
              <a:t> yielded the most balanced predictions.</a:t>
            </a:r>
          </a:p>
        </p:txBody>
      </p:sp>
    </p:spTree>
    <p:extLst>
      <p:ext uri="{BB962C8B-B14F-4D97-AF65-F5344CB8AC3E}">
        <p14:creationId xmlns:p14="http://schemas.microsoft.com/office/powerpoint/2010/main" val="421950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3163" y="278841"/>
            <a:ext cx="3906982" cy="646331"/>
          </a:xfrm>
          <a:prstGeom prst="rect">
            <a:avLst/>
          </a:prstGeom>
          <a:noFill/>
        </p:spPr>
        <p:txBody>
          <a:bodyPr wrap="square" rtlCol="0">
            <a:spAutoFit/>
          </a:bodyPr>
          <a:lstStyle/>
          <a:p>
            <a:r>
              <a:rPr lang="en-US"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- 5</a:t>
            </a:r>
            <a:endParaRPr lang="en-IN"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3953163" y="1019699"/>
            <a:ext cx="3676072" cy="461665"/>
          </a:xfrm>
          <a:prstGeom prst="rect">
            <a:avLst/>
          </a:prstGeom>
          <a:noFill/>
        </p:spPr>
        <p:txBody>
          <a:bodyPr wrap="square" rtlCol="0">
            <a:spAutoFit/>
          </a:bodyPr>
          <a:lstStyle/>
          <a:p>
            <a:r>
              <a:rPr lang="en-IN" sz="2400" b="1" u="sng" dirty="0">
                <a:latin typeface="Times New Roman" panose="02020603050405020304" pitchFamily="18" charset="0"/>
                <a:cs typeface="Times New Roman" panose="02020603050405020304" pitchFamily="18" charset="0"/>
              </a:rPr>
              <a:t>   Conclusions</a:t>
            </a:r>
          </a:p>
        </p:txBody>
      </p:sp>
      <p:sp>
        <p:nvSpPr>
          <p:cNvPr id="4" name="TextBox 3"/>
          <p:cNvSpPr txBox="1"/>
          <p:nvPr/>
        </p:nvSpPr>
        <p:spPr>
          <a:xfrm>
            <a:off x="502872" y="1575891"/>
            <a:ext cx="11231928" cy="2585323"/>
          </a:xfrm>
          <a:prstGeom prst="rect">
            <a:avLst/>
          </a:prstGeom>
          <a:noFill/>
        </p:spPr>
        <p:txBody>
          <a:bodyPr wrap="square" rtlCol="0">
            <a:spAutoFit/>
          </a:bodyPr>
          <a:lstStyle/>
          <a:p>
            <a:pPr marL="342900" indent="-342900">
              <a:buAutoNum type="arabicPeriod"/>
            </a:pPr>
            <a:r>
              <a:rPr lang="en-US" b="1" u="sng" dirty="0">
                <a:latin typeface="Times New Roman" panose="02020603050405020304" pitchFamily="18" charset="0"/>
                <a:cs typeface="Times New Roman" panose="02020603050405020304" pitchFamily="18" charset="0"/>
              </a:rPr>
              <a:t>Project Summary: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Conducted sentiment analysis on over 34,000 e-commerce reviews, classifying feedback as Positive, Neutral, or Negative.</a:t>
            </a:r>
          </a:p>
          <a:p>
            <a:r>
              <a:rPr lang="en-US" dirty="0">
                <a:latin typeface="Times New Roman" panose="02020603050405020304" pitchFamily="18" charset="0"/>
                <a:cs typeface="Times New Roman" panose="02020603050405020304" pitchFamily="18" charset="0"/>
              </a:rPr>
              <a:t>(b) Effectively addressed class imbalance challenges using advanced oversampling methods to ensure balanced model training.</a:t>
            </a:r>
          </a:p>
          <a:p>
            <a:r>
              <a:rPr lang="en-US" dirty="0">
                <a:latin typeface="Times New Roman" panose="02020603050405020304" pitchFamily="18" charset="0"/>
                <a:cs typeface="Times New Roman" panose="02020603050405020304" pitchFamily="18" charset="0"/>
              </a:rPr>
              <a:t>(c) Implemented and compared a variety of models—including both traditional machine learning algorithms and advanced neural networks—to identify the most accurate approach for sentiment prediction.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36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75B7A9-86DC-4250-9E7E-1375F7AE335B}"/>
              </a:ext>
            </a:extLst>
          </p:cNvPr>
          <p:cNvSpPr txBox="1"/>
          <p:nvPr/>
        </p:nvSpPr>
        <p:spPr>
          <a:xfrm>
            <a:off x="471767" y="626409"/>
            <a:ext cx="9505950" cy="203132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3. </a:t>
            </a:r>
            <a:r>
              <a:rPr lang="en-US" b="1" u="sng" dirty="0">
                <a:latin typeface="Times New Roman" panose="02020603050405020304" pitchFamily="18" charset="0"/>
                <a:cs typeface="Times New Roman" panose="02020603050405020304" pitchFamily="18" charset="0"/>
              </a:rPr>
              <a:t>Practical Impact: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The results demonstrate the potential of sentiment analysis in understanding customer behavior, addressing product-related concerns, and improving user satisfaction.</a:t>
            </a:r>
          </a:p>
          <a:p>
            <a:r>
              <a:rPr lang="en-US" dirty="0">
                <a:latin typeface="Times New Roman" panose="02020603050405020304" pitchFamily="18" charset="0"/>
                <a:cs typeface="Times New Roman" panose="02020603050405020304" pitchFamily="18" charset="0"/>
              </a:rPr>
              <a:t>(b). Insights gained can guide businesses in targeted marketing, product enhancements, and strategic decision-making.</a:t>
            </a:r>
          </a:p>
          <a:p>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D82E9A9-B360-40DF-B948-6D18C204FC83}"/>
              </a:ext>
            </a:extLst>
          </p:cNvPr>
          <p:cNvSpPr txBox="1"/>
          <p:nvPr/>
        </p:nvSpPr>
        <p:spPr>
          <a:xfrm>
            <a:off x="471767" y="2551837"/>
            <a:ext cx="9163050" cy="175432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4. </a:t>
            </a:r>
            <a:r>
              <a:rPr lang="en-US" b="1" u="sng" dirty="0">
                <a:latin typeface="Times New Roman" panose="02020603050405020304" pitchFamily="18" charset="0"/>
                <a:cs typeface="Times New Roman" panose="02020603050405020304" pitchFamily="18" charset="0"/>
              </a:rPr>
              <a:t>Future Scope: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Expand the dataset to include more diverse products and reviews.</a:t>
            </a:r>
          </a:p>
          <a:p>
            <a:r>
              <a:rPr lang="en-US" dirty="0">
                <a:latin typeface="Times New Roman" panose="02020603050405020304" pitchFamily="18" charset="0"/>
                <a:cs typeface="Times New Roman" panose="02020603050405020304" pitchFamily="18" charset="0"/>
              </a:rPr>
              <a:t>(b). Explore other deep learning architectures, such as BERT or Transformer-based models, for improved performance.</a:t>
            </a:r>
          </a:p>
          <a:p>
            <a:r>
              <a:rPr lang="en-US" dirty="0">
                <a:latin typeface="Times New Roman" panose="02020603050405020304" pitchFamily="18" charset="0"/>
                <a:cs typeface="Times New Roman" panose="02020603050405020304" pitchFamily="18" charset="0"/>
              </a:rPr>
              <a:t>(c). Integrate sentiment analysis results with real-time dashboards for business applications.</a:t>
            </a:r>
          </a:p>
        </p:txBody>
      </p:sp>
      <p:sp>
        <p:nvSpPr>
          <p:cNvPr id="4" name="TextBox 3">
            <a:extLst>
              <a:ext uri="{FF2B5EF4-FFF2-40B4-BE49-F238E27FC236}">
                <a16:creationId xmlns:a16="http://schemas.microsoft.com/office/drawing/2014/main" id="{6AF54890-3E47-430B-9C77-F177461ABE64}"/>
              </a:ext>
            </a:extLst>
          </p:cNvPr>
          <p:cNvSpPr txBox="1"/>
          <p:nvPr/>
        </p:nvSpPr>
        <p:spPr>
          <a:xfrm>
            <a:off x="319366" y="4661931"/>
            <a:ext cx="11720233" cy="147732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Closing Statement</a:t>
            </a:r>
          </a:p>
          <a:p>
            <a:br>
              <a:rPr lang="en-US" sz="24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integrating advanced analytical methods with robust solutions to data challenges, this project establishes a strong framework for applying sentiment analysis to real-world e-commerce environments.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6435458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2140</TotalTime>
  <Words>1289</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Dell</cp:lastModifiedBy>
  <cp:revision>116</cp:revision>
  <dcterms:created xsi:type="dcterms:W3CDTF">2024-02-14T06:38:32Z</dcterms:created>
  <dcterms:modified xsi:type="dcterms:W3CDTF">2025-11-07T07:45:17Z</dcterms:modified>
</cp:coreProperties>
</file>